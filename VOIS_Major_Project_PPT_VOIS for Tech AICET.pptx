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1" d="100"/>
          <a:sy n="81" d="100"/>
        </p:scale>
        <p:origin x="658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606" y="3895996"/>
            <a:ext cx="7353274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Name: Deekshidha Bakthavachalam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</a:t>
            </a:r>
            <a:r>
              <a:rPr lang="en-US" b="0" dirty="0" err="1">
                <a:solidFill>
                  <a:schemeClr val="tx1"/>
                </a:solidFill>
              </a:rPr>
              <a:t>Manakula</a:t>
            </a:r>
            <a:r>
              <a:rPr lang="en-US" b="0" dirty="0">
                <a:solidFill>
                  <a:schemeClr val="tx1"/>
                </a:solidFill>
              </a:rPr>
              <a:t> Vinayagar Institute of Technology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7353274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b="1" dirty="0"/>
              <a:t>Seasonal Agriculture</a:t>
            </a:r>
            <a:br>
              <a:rPr lang="en-IN" b="1" dirty="0"/>
            </a:br>
            <a:r>
              <a:rPr lang="en-IN" b="1" dirty="0"/>
              <a:t>Performance Analysis</a:t>
            </a:r>
            <a:br>
              <a:rPr lang="en-IN" b="1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757493"/>
            <a:ext cx="4189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STU673ca0bb770e41732026555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Agricultural activities are heavily influenced by seasonal variations in environmental conditions, farming practices, resource availability, and market dynamics.</a:t>
            </a:r>
          </a:p>
          <a:p>
            <a:r>
              <a:rPr lang="en-US" dirty="0"/>
              <a:t>However, </a:t>
            </a:r>
            <a:r>
              <a:rPr lang="en-US" b="1" dirty="0"/>
              <a:t>raw agricultural data</a:t>
            </a:r>
            <a:r>
              <a:rPr lang="en-US" dirty="0"/>
              <a:t> does not clearly explain how performance metrics change across distinct seasons or what actionable patterns exist.</a:t>
            </a:r>
          </a:p>
          <a:p>
            <a:r>
              <a:rPr lang="en-US" b="1" dirty="0"/>
              <a:t>Core Challenge:</a:t>
            </a:r>
            <a:r>
              <a:rPr lang="en-US" dirty="0"/>
              <a:t> Analyze the agricultural dataset to investigate seasonal differences in crop yield, output, and efficiency by identifying meaningful patterns, correlations, and trends.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1298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US" sz="2200" dirty="0"/>
              <a:t>Data Processing &amp; Cleaning</a:t>
            </a:r>
            <a:br>
              <a:rPr lang="en-US" sz="2200" dirty="0"/>
            </a:br>
            <a:r>
              <a:rPr lang="en-US" sz="2200" b="0" dirty="0"/>
              <a:t>Engineered raw agricultural records to handle missing values, formatted seasonal categorization (Kharif, Rabi, Zaid, Whole Year), and computed normalized yield per unit area (kg/hectare).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dirty="0"/>
              <a:t>Exploratory Visual Analytics</a:t>
            </a:r>
            <a:br>
              <a:rPr lang="en-US" sz="2200" dirty="0"/>
            </a:br>
            <a:r>
              <a:rPr lang="en-US" sz="2200" b="0" dirty="0"/>
              <a:t>Deployed statistical visualization tools to uncover yield disparities, environmental correlations (rainfall, temperature), and production volume fluctuations across varied regional conditions.</a:t>
            </a:r>
            <a:br>
              <a:rPr lang="en-US" b="0" dirty="0"/>
            </a:br>
            <a:br>
              <a:rPr lang="en-US" sz="2200" b="0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r>
              <a:rPr lang="en-US" b="1" dirty="0"/>
              <a:t>Farmers &amp; Agronomists</a:t>
            </a:r>
          </a:p>
          <a:p>
            <a:r>
              <a:rPr lang="en-US" dirty="0"/>
              <a:t>Gain direct guidance on optimal crop selection and planting schedules based on historical seasonal performance data.</a:t>
            </a:r>
          </a:p>
          <a:p>
            <a:r>
              <a:rPr lang="en-US" b="1" dirty="0"/>
              <a:t>Policy Makers</a:t>
            </a:r>
          </a:p>
          <a:p>
            <a:r>
              <a:rPr lang="en-US" dirty="0"/>
              <a:t>Formulate data-driven subsidies, crop insurance plans, and regional drought mitigation strategies for vulnerable seasons.</a:t>
            </a:r>
          </a:p>
          <a:p>
            <a:r>
              <a:rPr lang="en-US" b="1" dirty="0"/>
              <a:t>Agribusinesses</a:t>
            </a:r>
          </a:p>
          <a:p>
            <a:r>
              <a:rPr lang="en-US" dirty="0"/>
              <a:t>Optimize supply chain logistics, storage capacity allocation, and grain market pricing strategies ahead of peak harvests.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1BC32A-A0D2-625C-A6D4-609286FCDB5E}"/>
              </a:ext>
            </a:extLst>
          </p:cNvPr>
          <p:cNvGraphicFramePr>
            <a:graphicFrameLocks noGrp="1"/>
          </p:cNvGraphicFramePr>
          <p:nvPr/>
        </p:nvGraphicFramePr>
        <p:xfrm>
          <a:off x="1836175" y="2136877"/>
          <a:ext cx="6279687" cy="3928860"/>
        </p:xfrm>
        <a:graphic>
          <a:graphicData uri="http://schemas.openxmlformats.org/drawingml/2006/table">
            <a:tbl>
              <a:tblPr/>
              <a:tblGrid>
                <a:gridCol w="2093229">
                  <a:extLst>
                    <a:ext uri="{9D8B030D-6E8A-4147-A177-3AD203B41FA5}">
                      <a16:colId xmlns:a16="http://schemas.microsoft.com/office/drawing/2014/main" val="3856340366"/>
                    </a:ext>
                  </a:extLst>
                </a:gridCol>
                <a:gridCol w="2093229">
                  <a:extLst>
                    <a:ext uri="{9D8B030D-6E8A-4147-A177-3AD203B41FA5}">
                      <a16:colId xmlns:a16="http://schemas.microsoft.com/office/drawing/2014/main" val="1277714566"/>
                    </a:ext>
                  </a:extLst>
                </a:gridCol>
                <a:gridCol w="2093229">
                  <a:extLst>
                    <a:ext uri="{9D8B030D-6E8A-4147-A177-3AD203B41FA5}">
                      <a16:colId xmlns:a16="http://schemas.microsoft.com/office/drawing/2014/main" val="1007614353"/>
                    </a:ext>
                  </a:extLst>
                </a:gridCol>
              </a:tblGrid>
              <a:tr h="3469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Category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Technologies &amp; Tools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Project Purpose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892592"/>
                  </a:ext>
                </a:extLst>
              </a:tr>
              <a:tr h="7372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334155"/>
                          </a:solidFill>
                          <a:effectLst/>
                        </a:rPr>
                        <a:t>Programming</a:t>
                      </a:r>
                      <a:endParaRPr lang="en-IN" sz="13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solidFill>
                            <a:srgbClr val="334155"/>
                          </a:solidFill>
                          <a:effectLst/>
                        </a:rPr>
                        <a:t>Python 3.x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effectLst/>
                        </a:rPr>
                        <a:t>Core scripting, data manipulation, and calculation pipeline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276952"/>
                  </a:ext>
                </a:extLst>
              </a:tr>
              <a:tr h="9324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334155"/>
                          </a:solidFill>
                          <a:effectLst/>
                        </a:rPr>
                        <a:t>Data Analysis</a:t>
                      </a:r>
                      <a:endParaRPr lang="en-IN" sz="13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solidFill>
                            <a:srgbClr val="334155"/>
                          </a:solidFill>
                          <a:effectLst/>
                        </a:rPr>
                        <a:t>Pandas, NumPy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solidFill>
                            <a:srgbClr val="334155"/>
                          </a:solidFill>
                          <a:effectLst/>
                        </a:rPr>
                        <a:t>Data Wrangling, aggregation, missing value imputation, indexing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0444"/>
                  </a:ext>
                </a:extLst>
              </a:tr>
              <a:tr h="9324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334155"/>
                          </a:solidFill>
                          <a:effectLst/>
                        </a:rPr>
                        <a:t>Data Visualization</a:t>
                      </a:r>
                      <a:endParaRPr lang="en-IN" sz="13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solidFill>
                            <a:srgbClr val="334155"/>
                          </a:solidFill>
                          <a:effectLst/>
                        </a:rPr>
                        <a:t>Matplotlib, Seaborn, Plotly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solidFill>
                            <a:srgbClr val="334155"/>
                          </a:solidFill>
                          <a:effectLst/>
                        </a:rPr>
                        <a:t>Bar charts, distribution plots, correlation heatmaps, interactive charts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55925"/>
                  </a:ext>
                </a:extLst>
              </a:tr>
              <a:tr h="9324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>
                          <a:solidFill>
                            <a:srgbClr val="334155"/>
                          </a:solidFill>
                          <a:effectLst/>
                        </a:rPr>
                        <a:t>Environment &amp; Versioning</a:t>
                      </a:r>
                      <a:endParaRPr lang="en-IN" sz="13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>
                          <a:solidFill>
                            <a:srgbClr val="334155"/>
                          </a:solidFill>
                          <a:effectLst/>
                        </a:rPr>
                        <a:t>Jupyter Notebook, Git, GitHub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dirty="0">
                          <a:solidFill>
                            <a:srgbClr val="334155"/>
                          </a:solidFill>
                          <a:effectLst/>
                        </a:rPr>
                        <a:t>Interactive EDA, version control, code documentation &amp; repository hosting</a:t>
                      </a:r>
                    </a:p>
                  </a:txBody>
                  <a:tcPr marL="108420" marR="108420" marT="75894" marB="75894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21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72495-C12B-888A-FDCC-68D9CD50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96" y="1201586"/>
            <a:ext cx="837364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29EF9-AD04-7F8D-3CFE-75B77A604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1" y="1275371"/>
            <a:ext cx="8098548" cy="502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C9B58-7A30-EC8B-D096-C43C53E6F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66" y="1145776"/>
            <a:ext cx="7393655" cy="53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499CD-9B82-D36B-F104-D23EEBEA5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31693"/>
            <a:ext cx="7781695" cy="49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EA8300-4DD4-89F5-DF97-104A00E6D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89" y="1201586"/>
            <a:ext cx="8192779" cy="55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8E95-E79A-21FD-8098-220B896B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6675D-81EF-AB0D-C3F3-13CEFC50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7F231-CFA2-5FF6-790C-DAE5165E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85" y="1395619"/>
            <a:ext cx="8278380" cy="48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64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1009139" y="1379065"/>
            <a:ext cx="7003645" cy="4691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/>
              <a:t>Real-Time Weather</a:t>
            </a:r>
          </a:p>
          <a:p>
            <a:pPr algn="l"/>
            <a:r>
              <a:rPr lang="en-IN" dirty="0"/>
              <a:t>Integrate live meteorological APIs for dynamic climate risk mapping.</a:t>
            </a:r>
          </a:p>
          <a:p>
            <a:pPr algn="l"/>
            <a:r>
              <a:rPr lang="en-IN" b="1" dirty="0"/>
              <a:t>Predictive ML</a:t>
            </a:r>
          </a:p>
          <a:p>
            <a:pPr algn="l"/>
            <a:r>
              <a:rPr lang="en-IN" dirty="0"/>
              <a:t>Build Machine Learning models (Random Forest, XGBoost) for crop yield estimation.</a:t>
            </a:r>
          </a:p>
          <a:p>
            <a:pPr algn="l"/>
            <a:r>
              <a:rPr lang="en-IN" b="1" dirty="0"/>
              <a:t>GIS Mapping</a:t>
            </a:r>
          </a:p>
          <a:p>
            <a:pPr algn="l"/>
            <a:r>
              <a:rPr lang="en-IN" dirty="0"/>
              <a:t>Incorporate spatial satellite data for geographical crop condition tracking.</a:t>
            </a:r>
          </a:p>
          <a:p>
            <a:pPr algn="l"/>
            <a:r>
              <a:rPr lang="en-IN" b="1" dirty="0"/>
              <a:t>Mobile App</a:t>
            </a:r>
          </a:p>
          <a:p>
            <a:pPr algn="l"/>
            <a:r>
              <a:rPr lang="en-IN" dirty="0"/>
              <a:t>Develop lightweight mobile advisory app for direct farmer deployment.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95244" y="2035661"/>
            <a:ext cx="7232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https://github.com/Deekshidhab/Seasonal-Agriculture-Performance-Analysis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86B0C6-636F-20AF-D19C-48CA40A16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67" y="1608410"/>
            <a:ext cx="7588578" cy="49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58" y="1551445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867560" y="39938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46710" y="2778404"/>
            <a:ext cx="5084905" cy="344312"/>
          </a:xfrm>
        </p:spPr>
        <p:txBody>
          <a:bodyPr>
            <a:noAutofit/>
          </a:bodyPr>
          <a:lstStyle/>
          <a:p>
            <a:r>
              <a:rPr lang="en-IN" sz="2400" dirty="0"/>
              <a:t>- By Deekshidha Bakthavachalam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1384</TotalTime>
  <Words>418</Words>
  <Application>Microsoft Office PowerPoint</Application>
  <PresentationFormat>Widescreen</PresentationFormat>
  <Paragraphs>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Poppins</vt:lpstr>
      <vt:lpstr>Trebuchet MS</vt:lpstr>
      <vt:lpstr>Wingdings</vt:lpstr>
      <vt:lpstr>Wingdings 3</vt:lpstr>
      <vt:lpstr>Facet</vt:lpstr>
      <vt:lpstr>Project Title -Seasonal Agriculture Performance Analysis </vt:lpstr>
      <vt:lpstr>PROBLEM  STATEMENT</vt:lpstr>
      <vt:lpstr>Project Description  Data Processing &amp; Cleaning Engineered raw agricultural records to handle missing values, formatted seasonal categorization (Kharif, Rabi, Zaid, Whole Year), and computed normalized yield per unit area (kg/hectare).  Exploratory Visual Analytics Deployed statistical visualization tools to uncover yield disparities, environmental correlations (rainfall, temperature), and production volume fluctuations across varied regional conditions.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Deekshidha Bakthavachalam</cp:lastModifiedBy>
  <cp:revision>100</cp:revision>
  <dcterms:created xsi:type="dcterms:W3CDTF">2021-07-11T13:13:15Z</dcterms:created>
  <dcterms:modified xsi:type="dcterms:W3CDTF">2026-09-07T05:23:05Z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